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e3228224b24c1c" /><Relationship Type="http://schemas.openxmlformats.org/officeDocument/2006/relationships/extended-properties" Target="/docProps/app.xml" Id="Rac47eccd03b64554" /><Relationship Type="http://schemas.openxmlformats.org/officeDocument/2006/relationships/officeDocument" Target="/ppt/presentation.xml" Id="R1204e49febaf4f20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f911d0dea4d4197"/>
  </p:sldMasterIdLst>
  <p:notesMasterIdLst>
    <p:notesMasterId xmlns:r="http://schemas.openxmlformats.org/officeDocument/2006/relationships" r:id="R57a3225ca2244df1"/>
  </p:notesMasterIdLst>
  <p:sldIdLst>
    <p:sldId xmlns:r="http://schemas.openxmlformats.org/officeDocument/2006/relationships" id="256" r:id="Rebf6404b34e54efe"/>
    <p:sldId xmlns:r="http://schemas.openxmlformats.org/officeDocument/2006/relationships" id="257" r:id="Rd33d5e24e7784be5"/>
    <p:sldId xmlns:r="http://schemas.openxmlformats.org/officeDocument/2006/relationships" id="258" r:id="Rc6b6f348c52247c0"/>
    <p:sldId xmlns:r="http://schemas.openxmlformats.org/officeDocument/2006/relationships" id="259" r:id="R115d816e32c3433f"/>
    <p:sldId xmlns:r="http://schemas.openxmlformats.org/officeDocument/2006/relationships" id="260" r:id="Rc3739e045a674d88"/>
    <p:sldId xmlns:r="http://schemas.openxmlformats.org/officeDocument/2006/relationships" id="261" r:id="R2726960f88b54b89"/>
    <p:sldId xmlns:r="http://schemas.openxmlformats.org/officeDocument/2006/relationships" id="262" r:id="R01008da66b564792"/>
    <p:sldId xmlns:r="http://schemas.openxmlformats.org/officeDocument/2006/relationships" id="263" r:id="R03efd28bdcb44a03"/>
    <p:sldId xmlns:r="http://schemas.openxmlformats.org/officeDocument/2006/relationships" id="264" r:id="Ra6273484391e4f4b"/>
    <p:sldId xmlns:r="http://schemas.openxmlformats.org/officeDocument/2006/relationships" id="265" r:id="R1b9c44b536514d60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8291db8e6d9e4254"/>
      <p:bold xmlns:r="http://schemas.openxmlformats.org/officeDocument/2006/relationships" r:id="Raec0f4874c654dc2"/>
      <p:italic xmlns:r="http://schemas.openxmlformats.org/officeDocument/2006/relationships" r:id="R6cf065a7c46a49a3"/>
      <p:boldItalic xmlns:r="http://schemas.openxmlformats.org/officeDocument/2006/relationships" r:id="R7cd6f1cc6167435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45d78d240743c3" /><Relationship Type="http://schemas.openxmlformats.org/officeDocument/2006/relationships/slideMaster" Target="/ppt/slideMasters/slideMaster1.xml" Id="R6f911d0dea4d4197" /><Relationship Type="http://schemas.openxmlformats.org/officeDocument/2006/relationships/notesMaster" Target="/ppt/notesMasters/notesMaster1.xml" Id="R57a3225ca2244df1" /><Relationship Type="http://schemas.openxmlformats.org/officeDocument/2006/relationships/presProps" Target="/ppt/presProps.xml" Id="R7280f5503e414422" /><Relationship Type="http://schemas.openxmlformats.org/officeDocument/2006/relationships/viewProps" Target="/ppt/viewProps.xml" Id="R3a644430ce5c49b5" /><Relationship Type="http://schemas.openxmlformats.org/officeDocument/2006/relationships/tableStyles" Target="/ppt/tableStyles.xml" Id="R7a9cc16d979e48de" /><Relationship Type="http://schemas.openxmlformats.org/officeDocument/2006/relationships/font" Target="/ppt/fonts/font.dat" Id="R8291db8e6d9e4254" /><Relationship Type="http://schemas.openxmlformats.org/officeDocument/2006/relationships/font" Target="/ppt/fonts/font2.dat" Id="Raec0f4874c654dc2" /><Relationship Type="http://schemas.openxmlformats.org/officeDocument/2006/relationships/font" Target="/ppt/fonts/font3.dat" Id="R6cf065a7c46a49a3" /><Relationship Type="http://schemas.openxmlformats.org/officeDocument/2006/relationships/font" Target="/ppt/fonts/font4.dat" Id="R7cd6f1cc6167435d" /><Relationship Type="http://schemas.openxmlformats.org/officeDocument/2006/relationships/slide" Target="/ppt/slides/slide1.xml" Id="Rebf6404b34e54efe" /><Relationship Type="http://schemas.openxmlformats.org/officeDocument/2006/relationships/slide" Target="/ppt/slides/slide2.xml" Id="Rd33d5e24e7784be5" /><Relationship Type="http://schemas.openxmlformats.org/officeDocument/2006/relationships/slide" Target="/ppt/slides/slide3.xml" Id="Rc6b6f348c52247c0" /><Relationship Type="http://schemas.openxmlformats.org/officeDocument/2006/relationships/slide" Target="/ppt/slides/slide4.xml" Id="R115d816e32c3433f" /><Relationship Type="http://schemas.openxmlformats.org/officeDocument/2006/relationships/slide" Target="/ppt/slides/slide5.xml" Id="Rc3739e045a674d88" /><Relationship Type="http://schemas.openxmlformats.org/officeDocument/2006/relationships/slide" Target="/ppt/slides/slide6.xml" Id="R2726960f88b54b89" /><Relationship Type="http://schemas.openxmlformats.org/officeDocument/2006/relationships/slide" Target="/ppt/slides/slide7.xml" Id="R01008da66b564792" /><Relationship Type="http://schemas.openxmlformats.org/officeDocument/2006/relationships/slide" Target="/ppt/slides/slide8.xml" Id="R03efd28bdcb44a03" /><Relationship Type="http://schemas.openxmlformats.org/officeDocument/2006/relationships/slide" Target="/ppt/slides/slide9.xml" Id="Ra6273484391e4f4b" /><Relationship Type="http://schemas.openxmlformats.org/officeDocument/2006/relationships/slide" Target="/ppt/slides/slide10.xml" Id="R1b9c44b536514d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ae64d194914c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8cddd1bede44b6" /><Relationship Type="http://schemas.openxmlformats.org/officeDocument/2006/relationships/notesMaster" Target="/ppt/notesMasters/notesMaster1.xml" Id="Rf8f2be46e13f4d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8498f5662c4260" /><Relationship Type="http://schemas.openxmlformats.org/officeDocument/2006/relationships/notesMaster" Target="/ppt/notesMasters/notesMaster1.xml" Id="R9d1bdadf2fa64c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d63cb27e554283" /><Relationship Type="http://schemas.openxmlformats.org/officeDocument/2006/relationships/notesMaster" Target="/ppt/notesMasters/notesMaster1.xml" Id="R5255910e2cf441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b1466ecdfe445f" /><Relationship Type="http://schemas.openxmlformats.org/officeDocument/2006/relationships/notesMaster" Target="/ppt/notesMasters/notesMaster1.xml" Id="Rbf0d3d55212241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0586006b76411e" /><Relationship Type="http://schemas.openxmlformats.org/officeDocument/2006/relationships/notesMaster" Target="/ppt/notesMasters/notesMaster1.xml" Id="Rad31d111623b4b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dda948a48a4b31" /><Relationship Type="http://schemas.openxmlformats.org/officeDocument/2006/relationships/notesMaster" Target="/ppt/notesMasters/notesMaster1.xml" Id="Rbe22f526462441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f4982bcb944345" /><Relationship Type="http://schemas.openxmlformats.org/officeDocument/2006/relationships/notesMaster" Target="/ppt/notesMasters/notesMaster1.xml" Id="R296500cd16d64d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1e0507107545c3" /><Relationship Type="http://schemas.openxmlformats.org/officeDocument/2006/relationships/notesMaster" Target="/ppt/notesMasters/notesMaster1.xml" Id="R6b9dca53071545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e9f65b0de143fe" /><Relationship Type="http://schemas.openxmlformats.org/officeDocument/2006/relationships/notesMaster" Target="/ppt/notesMasters/notesMaster1.xml" Id="R6ed84bd627824e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42292e982b4ed5" /><Relationship Type="http://schemas.openxmlformats.org/officeDocument/2006/relationships/notesMaster" Target="/ppt/notesMasters/notesMaster1.xml" Id="R4afa05d3e3bc45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execution gap: a deadline says when, but not how.</a:t>
            </a:r>
            <a:endParaRPr/>
          </a:p>
          <a:p xmlns:a="http://schemas.openxmlformats.org/drawingml/2006/main">
            <a:r>
              <a:t>StudyFlow closes that gap and visibly recovers when reality changes.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AGENTS.md</a:t>
            </a:r>
            <a:endParaRPr/>
          </a:p>
          <a:p xmlns:a="http://schemas.openxmlformats.org/drawingml/2006/main">
            <a:r>
              <a:t>- docs/ARCHITECTURE.md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brief. The live product is the centerpiece.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docs/demo/VIDEO_SCRIPT.md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Point left to right. Emphasize deterministic constraints and canonical shared models.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docs/DATA_MODELS.md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docs/ARCHITECTURE.md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docs/API_CONTRACT.md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this as orientation, then switch to the live browser.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All content shown in the product comes from the FastAPI API.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frontend/src/App.tsx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frontend/src/api.ts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docs/API_CONTRACT.md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 the live demo, mark slides missed and pause on the before/after card.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Call out preserved work and any explicit unscheduled failure.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frontend/src/App.tsx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frontend/tests/replan.test.cjs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docs/DATA_MODELS.md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is why StudyFlow is more than a generic calendar assistant.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AGENTS.md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docs/DATA_MODELS.md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docs/ARCHITECTURE.md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 docs/demo/RUNBOOK.md exactly. Do not improvise IDs or use Swagger.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docs/demo/RUNBOOK.md</a:t>
            </a:r>
          </a:p>
          <a:p xmlns:a="http://schemas.openxmlformats.org/drawingml/2006/main">
            <a:r>
              <a:t>- docs/demo/VIDEO_SCRIPT.md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calendar grid is illustrative; the live UI is authoritative.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Stress that cross-date changes remain visible outside Today’s Plan.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frontend/src/App.tsx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frontend/tests/replan.test.cjs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are results from the final Sep 5 validation run, not projections.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frontend/tests/replan.test.cjs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frontend/package.json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final local validation on 2026-09-05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adaptation: the value is not the first schedule; it is safe recovery.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AGENTS.md</a:t>
            </a:r>
            <a:endParaRPr/>
          </a:p>
          <a:p xmlns:a="http://schemas.openxmlformats.org/drawingml/2006/main">
            <a:r>
              <a:t>- docs/demo/ABCD_SIGNOFF.md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f1e53d446143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b1b7eba97141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8b386a53a44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985116ee4542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5a90e00ff246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aea9570bf434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0ee36a66141e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137f3d493e4c73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d78e3ca87a4109" /><Relationship Type="http://schemas.openxmlformats.org/officeDocument/2006/relationships/slideLayout" Target="/ppt/slideLayouts/slideLayout1.xml" Id="Ra983ccc93bc84a4b" /><Relationship Type="http://schemas.openxmlformats.org/officeDocument/2006/relationships/slideLayout" Target="/ppt/slideLayouts/slideLayout2.xml" Id="R9d17c7866048442b" /><Relationship Type="http://schemas.openxmlformats.org/officeDocument/2006/relationships/slideLayout" Target="/ppt/slideLayouts/slideLayout3.xml" Id="R399b5bc3b6244f81" /><Relationship Type="http://schemas.openxmlformats.org/officeDocument/2006/relationships/slideLayout" Target="/ppt/slideLayouts/slideLayout4.xml" Id="Rd9038fb992e74ea6" /><Relationship Type="http://schemas.openxmlformats.org/officeDocument/2006/relationships/slideLayout" Target="/ppt/slideLayouts/slideLayout5.xml" Id="R2cf4ec77a4f74820" /><Relationship Type="http://schemas.openxmlformats.org/officeDocument/2006/relationships/slideLayout" Target="/ppt/slideLayouts/slideLayout6.xml" Id="Rf9fc5b6c3b5f41ad" /><Relationship Type="http://schemas.openxmlformats.org/officeDocument/2006/relationships/slideLayout" Target="/ppt/slideLayouts/slideLayout7.xml" Id="Rc1315645e1ae4f24" /><Relationship Type="http://schemas.openxmlformats.org/officeDocument/2006/relationships/slideLayout" Target="/ppt/slideLayouts/slideLayout8.xml" Id="R4bc50c5338a84da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83ccc93bc84a4b"/>
    <p:sldLayoutId xmlns:r="http://schemas.openxmlformats.org/officeDocument/2006/relationships" id="2147483650" r:id="R9d17c7866048442b"/>
    <p:sldLayoutId xmlns:r="http://schemas.openxmlformats.org/officeDocument/2006/relationships" id="2147483651" r:id="R399b5bc3b6244f81"/>
    <p:sldLayoutId xmlns:r="http://schemas.openxmlformats.org/officeDocument/2006/relationships" id="2147483652" r:id="Rd9038fb992e74ea6"/>
    <p:sldLayoutId xmlns:r="http://schemas.openxmlformats.org/officeDocument/2006/relationships" id="2147483653" r:id="R2cf4ec77a4f74820"/>
    <p:sldLayoutId xmlns:r="http://schemas.openxmlformats.org/officeDocument/2006/relationships" id="2147483654" r:id="Rf9fc5b6c3b5f41ad"/>
    <p:sldLayoutId xmlns:r="http://schemas.openxmlformats.org/officeDocument/2006/relationships" id="2147483655" r:id="Rc1315645e1ae4f24"/>
    <p:sldLayoutId xmlns:r="http://schemas.openxmlformats.org/officeDocument/2006/relationships" id="2147483656" r:id="R4bc50c5338a84da1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983fb6dc647fa" /><Relationship Type="http://schemas.openxmlformats.org/officeDocument/2006/relationships/notesSlide" Target="/ppt/notesSlides/notesSlide1.xml" Id="R918310098d3047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931eb7cf08479a" /><Relationship Type="http://schemas.openxmlformats.org/officeDocument/2006/relationships/notesSlide" Target="/ppt/notesSlides/notesSlide2.xml" Id="R2d74ed48057b49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6a844a2f774228" /><Relationship Type="http://schemas.openxmlformats.org/officeDocument/2006/relationships/notesSlide" Target="/ppt/notesSlides/notesSlide3.xml" Id="R77adba7ee39643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6c294b2a644544" /><Relationship Type="http://schemas.openxmlformats.org/officeDocument/2006/relationships/image" Target="/ppt/media/image.png" Id="R7e79495d5e25461b" /><Relationship Type="http://schemas.openxmlformats.org/officeDocument/2006/relationships/notesSlide" Target="/ppt/notesSlides/notesSlide4.xml" Id="R20b3097d2ae949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315e0d460e41f8" /><Relationship Type="http://schemas.openxmlformats.org/officeDocument/2006/relationships/notesSlide" Target="/ppt/notesSlides/notesSlide5.xml" Id="R0617e89bae1947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1236c36a5a474f" /><Relationship Type="http://schemas.openxmlformats.org/officeDocument/2006/relationships/notesSlide" Target="/ppt/notesSlides/notesSlide6.xml" Id="Re8c0d388cb6041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ed18a4763947cf" /><Relationship Type="http://schemas.openxmlformats.org/officeDocument/2006/relationships/notesSlide" Target="/ppt/notesSlides/notesSlide7.xml" Id="R5e49641e3ed54a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e19806a6984d21" /><Relationship Type="http://schemas.openxmlformats.org/officeDocument/2006/relationships/notesSlide" Target="/ppt/notesSlides/notesSlide8.xml" Id="R76160776464a4d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af22e62dfd4190" /><Relationship Type="http://schemas.openxmlformats.org/officeDocument/2006/relationships/notesSlide" Target="/ppt/notesSlides/notesSlide9.xml" Id="Rccfff08df5fe41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580dbbf1f4ef6" /><Relationship Type="http://schemas.openxmlformats.org/officeDocument/2006/relationships/notesSlide" Target="/ppt/notesSlides/notesSlide10.xml" Id="Rcacabdfb7dff4f9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StudyFlow</a:t>
            </a:r>
          </a:p>
          <a:p xmlns:a="http://schemas.openxmlformats.org/drawingml/2006/main">
            <a:r>
              <a:rPr sz="7200"/>
              <a:t>Plan work. Observe change. Replan safely.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42208"/>
            <a:ext cx="5702301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/>
              <a:t>An adaptive academic execution system that turns assessment deadlines into a schedule students can actually recover.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SIMPLIFYNEXT AGENTIC AI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3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story in four minutes</a:t>
            </a:r>
          </a:p>
        </p:txBody>
      </p:sp>
      <p:graphicFrame>
        <p:nvGraphicFramePr>
          <p:cNvPr id="10" name="Table 3"/>
          <p:cNvGraphicFramePr/>
          <p:nvPr/>
        </p:nvGraphicFramePr>
        <p:xfrm>
          <a:off xmlns:a="http://schemas.openxmlformats.org/drawingml/2006/main" x="393700" y="2080009"/>
          <a:ext xmlns:a="http://schemas.openxmlformats.org/drawingml/2006/main" cx="11404600" cy="391438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/>
                <a:gridCol w="10526091"/>
              </a:tblGrid>
              <a:tr h="65239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execution gap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Plan → Act → Observe → Replan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Live missed + calendar recovery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Safe demo reset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Proof and handoff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Why it matters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BA02CCA-F21B-9365-60C4-CCFEB9244CC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B21B056-C0DC-9927-7975-E8A8720D32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2D86C57-5A36-A9CA-FBAE-7FD6A9312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One loop, three cooperating capabilities</a:t>
            </a:r>
          </a:p>
        </p:txBody>
      </p:sp>
      <p:sp>
        <p:nvSpPr>
          <p:cNvPr id="5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CF52371F-8816-97E4-7F6A-234DB3FE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PLAN</a:t>
            </a:r>
            <a:endParaRPr sz="20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agent interprets an assessment and decomposes it into named, dependent tasks.</a:t>
            </a:r>
            <a:endParaRPr sz="20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35EA25F-F28D-25C7-A5DF-16A7EADF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ACT + OBSERVE</a:t>
            </a:r>
            <a:endParaRPr sz="20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scheduler fits work around hard commitments; task and calendar events update atomic state.</a:t>
            </a:r>
            <a:endParaRPr sz="20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6E61CDC3-05E3-B689-0BCE-9014DDCB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REPLAN</a:t>
            </a:r>
            <a:endParaRPr sz="20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Affected work moves. Completed and unrelated valid placements stay preserved when possible.</a:t>
            </a:r>
            <a:endParaRPr sz="20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2E9332F7-1AC8-A3A0-635E-D70D0C3E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1F6EAF7D-166C-52A8-35F4-18CE1043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56E3A8EC-7B67-B778-5CC6-BC028292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534396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5524500" cy="1047464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 dashboard built for action</a:t>
            </a:r>
          </a:p>
        </p:txBody>
      </p:sp>
      <p:pic>
        <p:nvPicPr>
          <p:cNvPr id="5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9495d5e25461b"/>
          <a:srcRect xmlns:a="http://schemas.openxmlformats.org/drawingml/2006/main" l="19098" t="0" r="190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THREE LIVE VIEWS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Upcoming Assessments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Today’s Plan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Agent Activity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USER ACTIONS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Complete / Missed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Add or edit calendar blocks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Add assessment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Generate Plan / Demo Reset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128303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Replanning is explained as a comparison—not hidden behind “success”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PRESERVED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Completed or unrelated unchanged placements remain visible.</a:t>
            </a:r>
            <a:endParaRPr sz="1600"/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UNSCHEDULED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exact task, canonical reason, and message are surfaced.</a:t>
            </a:r>
            <a:endParaRPr sz="1600"/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EC1020B-1BFB-C461-94A3-B04496D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06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9CE9B1-F78E-2E93-3127-A76A196D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7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MOVED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Before → after, including cross-date changes.</a:t>
            </a:r>
            <a:endParaRPr sz="1600"/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FAB1693-7B48-B899-1715-D7B6F34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98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4ED89C7-2856-344F-42B0-44B6A09E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1" y="145052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The UI compares the previous and latest canonical schedule using absolute start/end timestamps, task_id, and flexibility. Display timezone is explicit.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Deterministic scheduling guardrails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AI interprets.</a:t>
            </a:r>
            <a:endParaRPr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Constraints decide.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Never overlap hard calendar blocks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StudyFlow normalizes assessments, tasks, calendar blocks, scheduled tasks, and planning events into shared canonical models. The scheduler validates dependencies, deadlines, hard blocks, durations, and timezone-aware ranges. Replanning preserves valid state whenever possible.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Respect task dependencies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Keep completed work stable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Expose partial scheduling failures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Refresh all planning views atomically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0AD2B367-4B64-657F-20CC-D17632C47D9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18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demo: break the plan, watch it recover</a:t>
            </a:r>
          </a:p>
        </p:txBody>
      </p:sp>
      <p:cxnSp>
        <p:nvCxnSpPr>
          <p:cNvPr id="33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 — RESET + ORIENT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Restore the stable baseline. Show assessments, schedule, task statuses, and agent activity.</a:t>
            </a: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 — MISS + CONFLICT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Mark slides Missed. Add a hard calendar block. Compare moved and preserved work.</a:t>
            </a:r>
            <a:endParaRPr/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 — ADD + RESET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Create an assessment. Show generated work or unscheduled reason. Reset for the next judge.</a:t>
            </a:r>
            <a:endParaRPr/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013F05BF-0D59-AD7B-B623-A2626D8E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1:00–2:40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D278DD6-3486-8F28-C119-6A1866BD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50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0:00–1:00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AB1D750-F0E1-A3C4-989E-260B04C4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39" y="5602406"/>
            <a:ext cx="2595934" cy="3919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2:40–3:40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Footer Placeholder 22">
            <a:extLst xmlns:a="http://schemas.openxmlformats.org/drawingml/2006/main">
              <a:ext uri="{FF2B5EF4-FFF2-40B4-BE49-F238E27FC236}">
                <a16:creationId xmlns:a16="http://schemas.microsoft.com/office/drawing/2014/main" id="{AD97F9EA-012C-21EB-B59E-E7F4EA1900F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0AF45DF-4338-2F83-4089-BDD9581316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25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4D2BBD2-B9DC-C05C-151C-46086B5BA5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Calendar changes trigger visible, cross-date recovery</a:t>
            </a:r>
          </a:p>
        </p:txBody>
      </p:sp>
      <p:graphicFrame>
        <p:nvGraphicFramePr>
          <p:cNvPr id="538" name="Google Shape;953;p80"/>
          <p:cNvGraphicFramePr/>
          <p:nvPr/>
        </p:nvGraphicFramePr>
        <p:xfrm>
          <a:off xmlns:a="http://schemas.openxmlformats.org/drawingml/2006/main" x="393700" y="822085"/>
          <a:ext xmlns:a="http://schemas.openxmlformats.org/drawingml/2006/main" cx="11404600" cy="535011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20"/>
                <a:gridCol w="2280920"/>
                <a:gridCol w="2280920"/>
                <a:gridCol w="2280920"/>
                <a:gridCol w="2280920"/>
              </a:tblGrid>
              <a:tr h="449963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Monday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Tuesday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Wednesday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Thursday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Friday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prstClr val="black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A122CFB3-561F-F57A-0D76-5F64F78E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46" y="1633394"/>
            <a:ext cx="2004054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Research</a:t>
            </a:r>
          </a:p>
          <a:p xmlns:a="http://schemas.openxmlformats.org/drawingml/2006/main">
            <a:pPr algn="ctr">
              <a:buNone/>
            </a:pPr>
            <a:r>
              <a:rPr sz="1100"/>
              <a:t>preserved</a:t>
            </a:r>
          </a:p>
        </p:txBody>
      </p:sp>
      <p:sp>
        <p:nvSpPr>
          <p:cNvPr id="5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C931B0DD-E0CC-3A4D-1652-DEF41244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46" y="2039794"/>
            <a:ext cx="2004054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Slides</a:t>
            </a:r>
          </a:p>
          <a:p xmlns:a="http://schemas.openxmlformats.org/drawingml/2006/main">
            <a:pPr algn="ctr">
              <a:buNone/>
            </a:pPr>
            <a:r>
              <a:rPr sz="1100"/>
              <a:t>missed</a:t>
            </a:r>
          </a:p>
        </p:txBody>
      </p:sp>
      <p:sp>
        <p:nvSpPr>
          <p:cNvPr id="6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55193150-005D-DDAC-ACAE-A50653E1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246" y="1788470"/>
            <a:ext cx="2004054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latin typeface="Helvetica Neue"/>
                <a:ea typeface="Helvetica Neue"/>
                <a:cs typeface="Helvetica Neue"/>
              </a:rPr>
              <a:t>Rehearsal</a:t>
            </a:r>
            <a:endParaRPr sz="11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ctr">
              <a:buNone/>
            </a:pPr>
            <a:r>
              <a:rPr sz="1100">
                <a:latin typeface="Helvetica Neue"/>
                <a:ea typeface="Helvetica Neue"/>
                <a:cs typeface="Helvetica Neue"/>
              </a:rPr>
              <a:t>moved</a:t>
            </a:r>
            <a:endParaRPr sz="11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E6450C44-6EBB-C6EE-22ED-5AD1B797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46" y="4257498"/>
            <a:ext cx="2004054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Hard event</a:t>
            </a:r>
          </a:p>
          <a:p xmlns:a="http://schemas.openxmlformats.org/drawingml/2006/main">
            <a:pPr algn="ctr">
              <a:buNone/>
            </a:pPr>
            <a:r>
              <a:rPr sz="1100"/>
              <a:t>added</a:t>
            </a:r>
          </a:p>
        </p:txBody>
      </p:sp>
      <p:sp>
        <p:nvSpPr>
          <p:cNvPr id="10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514ABA49-AA4D-75E4-06B4-7B2D65B6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546" y="4257498"/>
            <a:ext cx="2004054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Coding task</a:t>
            </a:r>
          </a:p>
          <a:p xmlns:a="http://schemas.openxmlformats.org/drawingml/2006/main">
            <a:pPr algn="ctr">
              <a:buNone/>
            </a:pPr>
            <a:r>
              <a:rPr sz="1100"/>
              <a:t>preserved</a:t>
            </a:r>
          </a:p>
        </p:txBody>
      </p:sp>
      <p:sp>
        <p:nvSpPr>
          <p:cNvPr id="14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0A803CC6-DD7B-E7CD-2227-ACC292A5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946" y="5458770"/>
            <a:ext cx="2004054" cy="339939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New task</a:t>
            </a:r>
          </a:p>
          <a:p xmlns:a="http://schemas.openxmlformats.org/drawingml/2006/main">
            <a:pPr algn="ctr">
              <a:buNone/>
            </a:pPr>
            <a:r>
              <a:rPr sz="1100"/>
              <a:t>if schedulable</a:t>
            </a:r>
          </a:p>
        </p:txBody>
      </p:sp>
    </p:spTree>
    <p:extLst>
      <p:ext uri="{BB962C8B-B14F-4D97-AF65-F5344CB8AC3E}">
        <p14:creationId xmlns:p14="http://schemas.microsoft.com/office/powerpoint/2010/main" val="429120901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Demo-grade reliability, validated on the real stack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8 FRONTEND UNIT TESTS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API parsing and contract behavior passed.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412 BACKEND TESTS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Full pytest suite passed.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PRODUCTION BUILD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All frontend tsconfigs and Vite build passed.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18 BROWSER ACCEPTANCE TESTS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Missed, calendar, reset, assessment, retry, and full rehearsal passed.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Frontend writes use existing contracts, lock duplicate submissions, preserve usable state on failure, and refresh assessments, tasks, calendar, schedule, and planning events after success.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StudyFlow keeps the plan useful</a:t>
            </a:r>
          </a:p>
          <a:p xmlns:a="http://schemas.openxmlformats.org/drawingml/2006/main">
            <a:r>
              <a:rPr sz="7200"/>
              <a:t>after the plan breaks.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973320"/>
            <a:ext cx="3568700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Plan → Act → Observe → Replan</a:t>
            </a:r>
          </a:p>
          <a:p xmlns:a="http://schemas.openxmlformats.org/drawingml/2006/main">
            <a:r>
              <a:rPr sz="2000"/>
              <a:t>Visible recovery • explicit failures • demo-safe reset</a:t>
            </a:r>
          </a:p>
          <a:p xmlns:a="http://schemas.openxmlformats.org/drawingml/2006/main">
            <a:r>
              <a:rPr sz="2000"/>
              <a:t>Ready for final team rehearsal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2026-09-05T14:58:57.7570000Z</dcterms:created>
  <dcterms:modified xsi:type="dcterms:W3CDTF">2026-09-05T14:58:57.7570000Z</dcterms:modified>
</coreProperties>
</file>